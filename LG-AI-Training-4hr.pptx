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Title. Plain language, live demos, one running example - the IM-500 machine.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Ice-breaker. Read the room: mostly non-coders? go slower on tech, heavier on the 'why'. Keep it warm.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tone: interactive, bilingual, judgement-free. The goal is understanding, not vocabulary.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Spine of the session.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machine itself. Point at each part so the room has a physical picture before we talk sensors.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Ground the room in the machine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levels, one machine.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Plain-word definitions of each term before the comparison table. Keep it quick - the next slide contrasts them side by 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~37 min mark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only from your docs, with citations.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"not in sources" before; full cited answer after.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all three states.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~92 min mark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brain (LLM) + your data + a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 one agent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~144 min mark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decision no single agent makes alone.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build Sequential - simplest and most reliable.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Centrepiece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loop.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doesn't just answer, it records.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Reference slide - full definitions are in the glossary handout. Don't read it out; point people to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Reference slide - full definitions are in the glossary handout. Don't read it out; point people to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Reference slide - full definitions are in the glossary handout. Don't read it out; point people to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41248" y="8229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TRAINING · LG ELECTRONICS, NOIDA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" y="141732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AI for the </a:t>
            </a:r>
            <a:pPr indent="0" marL="0">
              <a:buNone/>
            </a:pPr>
            <a:r>
              <a:rPr lang="en-US" sz="48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 Floor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859536" y="292608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hands-on, 4-hour session - concepts, RAG, agents and orchestration, all no-code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41248" y="40233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</a:t>
            </a:r>
            <a:pPr indent="0" marL="0">
              <a:buNone/>
            </a:pPr>
            <a:r>
              <a:rPr lang="en-US" sz="2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 Thakur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59536" y="45720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AI Engineer  ·  AI Trainer  ·  Agentic AI Developer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400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- A FEW HANDS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024128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 start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10515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800"/>
              </a:spcAft>
              <a:buNone/>
            </a:pPr>
            <a:r>
              <a:rPr lang="en-US" sz="2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ChatGPT, Gemini or any AI chat - even once in a while?</a:t>
            </a:r>
            <a:endParaRPr lang="en-US" sz="2100" dirty="0"/>
          </a:p>
          <a:p>
            <a:pPr indent="0" marL="0">
              <a:buNone/>
            </a:pPr>
            <a:r>
              <a:rPr lang="en-US" sz="2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800"/>
              </a:spcAft>
              <a:buNone/>
            </a:pPr>
            <a:r>
              <a:rPr lang="en-US" sz="2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has ever written code or built an automation? (Excel formulas count!)</a:t>
            </a:r>
            <a:endParaRPr lang="en-US" sz="2100" dirty="0"/>
          </a:p>
          <a:p>
            <a:pPr indent="0" marL="0">
              <a:buNone/>
            </a:pPr>
            <a:r>
              <a:rPr lang="en-US" sz="2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800"/>
              </a:spcAft>
              <a:buNone/>
            </a:pPr>
            <a:r>
              <a:rPr lang="en-US" sz="2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has heard "AI agent" and wasn't quite sure what it means?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822960" y="5212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wrong answers - this just helps me pitch the session at the right level for the room.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400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IN 4 HOURS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024128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we'll cover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22960" y="2468880"/>
            <a:ext cx="1700784" cy="1188720"/>
          </a:xfrm>
          <a:prstGeom prst="roundRect">
            <a:avLst>
              <a:gd name="adj" fmla="val 6154"/>
            </a:avLst>
          </a:prstGeom>
          <a:solidFill>
            <a:srgbClr val="11161E"/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2560320"/>
            <a:ext cx="1554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96112" y="3182112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words, plainly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587752" y="3063240"/>
            <a:ext cx="374904" cy="0"/>
          </a:xfrm>
          <a:prstGeom prst="line">
            <a:avLst/>
          </a:prstGeom>
          <a:noFill/>
          <a:ln w="34925">
            <a:solidFill>
              <a:srgbClr val="22D3EE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026664" y="2468880"/>
            <a:ext cx="1700784" cy="1188720"/>
          </a:xfrm>
          <a:prstGeom prst="roundRect">
            <a:avLst>
              <a:gd name="adj" fmla="val 6154"/>
            </a:avLst>
          </a:prstGeom>
          <a:solidFill>
            <a:srgbClr val="11161E"/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99816" y="2560320"/>
            <a:ext cx="1554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099816" y="3182112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+ your docs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91456" y="3063240"/>
            <a:ext cx="374904" cy="0"/>
          </a:xfrm>
          <a:prstGeom prst="line">
            <a:avLst/>
          </a:prstGeom>
          <a:noFill/>
          <a:ln w="34925">
            <a:solidFill>
              <a:srgbClr val="22D3EE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230368" y="2468880"/>
            <a:ext cx="1700784" cy="1188720"/>
          </a:xfrm>
          <a:prstGeom prst="roundRect">
            <a:avLst>
              <a:gd name="adj" fmla="val 6154"/>
            </a:avLst>
          </a:prstGeom>
          <a:solidFill>
            <a:srgbClr val="11161E"/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03520" y="2560320"/>
            <a:ext cx="1554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Agent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303520" y="3182112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that acts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995160" y="3063240"/>
            <a:ext cx="374904" cy="0"/>
          </a:xfrm>
          <a:prstGeom prst="line">
            <a:avLst/>
          </a:prstGeom>
          <a:noFill/>
          <a:ln w="34925">
            <a:solidFill>
              <a:srgbClr val="22D3EE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434072" y="2468880"/>
            <a:ext cx="1700784" cy="1188720"/>
          </a:xfrm>
          <a:prstGeom prst="roundRect">
            <a:avLst>
              <a:gd name="adj" fmla="val 6154"/>
            </a:avLst>
          </a:prstGeom>
          <a:solidFill>
            <a:srgbClr val="11161E"/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07224" y="2560320"/>
            <a:ext cx="1554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507224" y="3182112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together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198864" y="3063240"/>
            <a:ext cx="374904" cy="0"/>
          </a:xfrm>
          <a:prstGeom prst="line">
            <a:avLst/>
          </a:prstGeom>
          <a:noFill/>
          <a:ln w="34925">
            <a:solidFill>
              <a:srgbClr val="22D3EE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637776" y="2468880"/>
            <a:ext cx="1700784" cy="1188720"/>
          </a:xfrm>
          <a:prstGeom prst="roundRect">
            <a:avLst>
              <a:gd name="adj" fmla="val 6154"/>
            </a:avLst>
          </a:prstGeom>
          <a:solidFill>
            <a:srgbClr val="11161E"/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710928" y="2560320"/>
            <a:ext cx="1554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710928" y="3182112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 Sheet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22960" y="425196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300"/>
              </a:spcAft>
              <a:buNone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example, grown all day - predictive maintenance on an IM-500 machine.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300"/>
              </a:spcAft>
              <a:buNone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build live; you watch and ask. Short breaks along the way.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300"/>
              </a:spcAft>
              <a:buNone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manual, prompts and a glossary to redo it yourself, free.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400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WE'LL WORK TODAY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024128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few house rules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moment you have a question - don't wait for me to finish. The best time is right away.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Stuck on a word or a term? Ask me to define it, anytime. No question is too basic.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is no barrier - Hindi or English, whatever's comfortable. Hinglish is perfectly fine.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no-code and free. I build live; you get the manual to redo it yourself.</a:t>
            </a:r>
            <a:endParaRPr lang="en-US" sz="1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THREAD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932688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example, grown all day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755648"/>
            <a:ext cx="10543032" cy="4297680"/>
          </a:xfrm>
          <a:prstGeom prst="roundRect">
            <a:avLst>
              <a:gd name="adj" fmla="val 1702"/>
            </a:avLst>
          </a:prstGeom>
          <a:solidFill>
            <a:srgbClr val="0B0F15"/>
          </a:solidFill>
          <a:ln w="15875">
            <a:solidFill>
              <a:srgbClr val="1F2937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0120" y="1892808"/>
            <a:ext cx="10268712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548640"/>
            <a:ext cx="11183112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THE MACHINE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932688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IM-500 - what we'll work 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755648"/>
            <a:ext cx="10543032" cy="4297680"/>
          </a:xfrm>
          <a:prstGeom prst="roundRect">
            <a:avLst>
              <a:gd name="adj" fmla="val 1702"/>
            </a:avLst>
          </a:prstGeom>
          <a:solidFill>
            <a:srgbClr val="0B0F15"/>
          </a:solidFill>
          <a:ln w="15875">
            <a:solidFill>
              <a:srgbClr val="1F2937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0120" y="1892808"/>
            <a:ext cx="10268712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6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49808" y="457200"/>
            <a:ext cx="54864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5000" dirty="0"/>
          </a:p>
        </p:txBody>
      </p:sp>
      <p:sp>
        <p:nvSpPr>
          <p:cNvPr id="4" name="Text 2"/>
          <p:cNvSpPr/>
          <p:nvPr/>
        </p:nvSpPr>
        <p:spPr>
          <a:xfrm>
            <a:off x="868680" y="32004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3566160"/>
            <a:ext cx="10607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59536" y="4617720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words everyone mixes up - on the IM-500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CONCEPTS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932688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vs GenAI vs AI Agent vs Agentic AI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755648"/>
            <a:ext cx="10543032" cy="4297680"/>
          </a:xfrm>
          <a:prstGeom prst="roundRect">
            <a:avLst>
              <a:gd name="adj" fmla="val 1702"/>
            </a:avLst>
          </a:prstGeom>
          <a:solidFill>
            <a:srgbClr val="0B0F15"/>
          </a:solidFill>
          <a:ln w="15875">
            <a:solidFill>
              <a:srgbClr val="1F2937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0120" y="1892808"/>
            <a:ext cx="10268712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CONCEPTS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950976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terms, defined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874520"/>
            <a:ext cx="5029200" cy="1965960"/>
          </a:xfrm>
          <a:prstGeom prst="roundRect">
            <a:avLst>
              <a:gd name="adj" fmla="val 3721"/>
            </a:avLst>
          </a:prstGeom>
          <a:solidFill>
            <a:srgbClr val="11161E"/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4128" y="1984248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24128" y="2404872"/>
            <a:ext cx="4626864" cy="1307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that follows rules or spots patterns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language, no reasoning - just "if this, then that"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flag the part if vibration &gt; 4.5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309360" y="1874520"/>
            <a:ext cx="5029200" cy="1965960"/>
          </a:xfrm>
          <a:prstGeom prst="roundRect">
            <a:avLst>
              <a:gd name="adj" fmla="val 3721"/>
            </a:avLst>
          </a:prstGeom>
          <a:solidFill>
            <a:srgbClr val="11161E"/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10528" y="1984248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510528" y="2404872"/>
            <a:ext cx="4626864" cy="1307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new content - text, summaries, images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Understands and writes language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Doesn't know YOUR data unless you give it (that's RAG)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160520"/>
            <a:ext cx="5029200" cy="1965960"/>
          </a:xfrm>
          <a:prstGeom prst="roundRect">
            <a:avLst>
              <a:gd name="adj" fmla="val 3721"/>
            </a:avLst>
          </a:prstGeom>
          <a:solidFill>
            <a:srgbClr val="11161E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24128" y="4270248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4690872"/>
            <a:ext cx="4626864" cy="1307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 that can decide and take an action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your reference data (and tools) to finish a task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reads a sensor alarm -&gt; names the failing part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309360" y="4160520"/>
            <a:ext cx="5029200" cy="1965960"/>
          </a:xfrm>
          <a:prstGeom prst="roundRect">
            <a:avLst>
              <a:gd name="adj" fmla="val 3721"/>
            </a:avLst>
          </a:prstGeom>
          <a:solidFill>
            <a:srgbClr val="11161E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10528" y="4270248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510528" y="4690872"/>
            <a:ext cx="4626864" cy="1307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agents working together toward a goal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hand off, coordinate, span many steps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predict -&gt; check parts -&gt; raise maintenance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CONCEPTS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950976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terms, side by side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828800"/>
          <a:ext cx="10515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834640"/>
                <a:gridCol w="1828800"/>
                <a:gridCol w="38404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Decides?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IM-500 example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49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2D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6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Rules &amp; patterns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6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4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90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Flag if vibration &gt; 4.5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61E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2D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Generative AI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6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Creates language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6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4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90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Writes a shift summary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61E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2D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Agent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6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+ data + decision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6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4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Yes, one task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90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Servo error -&gt; EN-77, ~6d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61E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2D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Agentic AI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6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team, many steps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6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4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Yes, end to end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90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 -&gt; parts -&gt; maintenance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61E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room:  </a:t>
            </a:r>
            <a:pPr indent="0" marL="0">
              <a:buNone/>
            </a:pPr>
            <a:r>
              <a:rPr lang="en-US" sz="1600" i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of these are you already using without calling it "AI"?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6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0058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&amp; 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 - questions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822960" y="2788920"/>
            <a:ext cx="105156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of your tasks today is really just automation?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would a decision (an agent) actually help?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6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965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spc="8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22960" y="31546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minutes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22960" y="39776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We'll resume right on time.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6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49808" y="457200"/>
            <a:ext cx="54864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5000" dirty="0"/>
          </a:p>
        </p:txBody>
      </p:sp>
      <p:sp>
        <p:nvSpPr>
          <p:cNvPr id="4" name="Text 2"/>
          <p:cNvSpPr/>
          <p:nvPr/>
        </p:nvSpPr>
        <p:spPr>
          <a:xfrm>
            <a:off x="868680" y="32004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3566160"/>
            <a:ext cx="10607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59536" y="4617720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the AI answer from YOUR machine documents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6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5836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RAG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078992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a plain chatbot doesn't know your machine</a:t>
            </a:r>
            <a:endParaRPr lang="en-US" sz="3200" dirty="0"/>
          </a:p>
        </p:txBody>
      </p:sp>
      <p:sp>
        <p:nvSpPr>
          <p:cNvPr id="5" name="animList"/>
          <p:cNvSpPr/>
          <p:nvPr/>
        </p:nvSpPr>
        <p:spPr>
          <a:xfrm>
            <a:off x="822960" y="214884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8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raw AI model is smart, but it has never seen the IM-500 manuals.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8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it about servo error EN-77 and it guesses - a confident wrong answer.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8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floor, a confident wrong answer can be worse than no answer.</a:t>
            </a:r>
            <a:endParaRPr lang="en-US" sz="2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RAG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932688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RAG is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755648"/>
            <a:ext cx="10543032" cy="4297680"/>
          </a:xfrm>
          <a:prstGeom prst="roundRect">
            <a:avLst>
              <a:gd name="adj" fmla="val 1702"/>
            </a:avLst>
          </a:prstGeom>
          <a:solidFill>
            <a:srgbClr val="0B0F15"/>
          </a:solidFill>
          <a:ln w="15875">
            <a:solidFill>
              <a:srgbClr val="1F2937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0120" y="1892808"/>
            <a:ext cx="10268712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5836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RAG · WHY NOTEBOOKLM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078992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use NotebookLM</a:t>
            </a:r>
            <a:endParaRPr lang="en-US" sz="3200" dirty="0"/>
          </a:p>
        </p:txBody>
      </p:sp>
      <p:sp>
        <p:nvSpPr>
          <p:cNvPr id="5" name="animList"/>
          <p:cNvSpPr/>
          <p:nvPr/>
        </p:nvSpPr>
        <p:spPr>
          <a:xfrm>
            <a:off x="822960" y="214884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No-code, free, Google-stable - upload PDFs and ask; no database to manage.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"just works" tool for grounded answers in a live demo.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first: fewer moving parts, nothing to break on the day.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6053328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↗  </a:t>
            </a:r>
            <a:pPr indent="0" marL="0">
              <a:buNone/>
            </a:pPr>
            <a:r>
              <a:rPr lang="en-US" sz="1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notebooklm.google.com    ·    plain chatbot: gemini.google.com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RAG · DEMO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932688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vs After RAG - the EN-77 question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755648"/>
            <a:ext cx="10543032" cy="4297680"/>
          </a:xfrm>
          <a:prstGeom prst="roundRect">
            <a:avLst>
              <a:gd name="adj" fmla="val 1702"/>
            </a:avLst>
          </a:prstGeom>
          <a:solidFill>
            <a:srgbClr val="0B0F15"/>
          </a:solidFill>
          <a:ln w="15875">
            <a:solidFill>
              <a:srgbClr val="1F2937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0120" y="1892808"/>
            <a:ext cx="10268712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6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5836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LIVE DEMO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170432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vs After RAG, live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41248" y="2057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the deck → </a:t>
            </a:r>
            <a:pPr indent="0" marL="0">
              <a:buNone/>
            </a:pPr>
            <a:r>
              <a:rPr lang="en-US" sz="1800" b="1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NotebookLM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2743200"/>
            <a:ext cx="1051560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400"/>
              </a:spcAft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EN-77 question in plain Gemini (no docs) -&gt; vague guess.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400"/>
              </a:spcAft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the IM-500 manuals + spare-parts catalog -&gt; ask again -&gt; "not in sources" for the addendum item.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400"/>
              </a:spcAft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EN-77 addendum PDF -&gt; ask again -&gt; exact part, 0 stock, 21-day lead, cited.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22960" y="594360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↗  </a:t>
            </a:r>
            <a:pPr indent="0" marL="0">
              <a:buNone/>
            </a:pPr>
            <a:r>
              <a:rPr lang="en-US" sz="1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notebooklm.google.com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6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0058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&amp; 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- questions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822960" y="2788920"/>
            <a:ext cx="105156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documents would you point this at first?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shape is that data in today - PDFs, scans, spreadsheets?</a:t>
            </a:r>
            <a:endParaRPr lang="en-US" sz="2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6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965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spc="8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22960" y="31546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22960" y="39776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We'll resume right on time.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6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49808" y="457200"/>
            <a:ext cx="54864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5000" dirty="0"/>
          </a:p>
        </p:txBody>
      </p:sp>
      <p:sp>
        <p:nvSpPr>
          <p:cNvPr id="4" name="Text 2"/>
          <p:cNvSpPr/>
          <p:nvPr/>
        </p:nvSpPr>
        <p:spPr>
          <a:xfrm>
            <a:off x="868680" y="32004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3566160"/>
            <a:ext cx="10607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 Agent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59536" y="4617720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that reads, decides and takes action - no code</a:t>
            </a:r>
            <a:endParaRPr lang="en-US" sz="1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AGENTS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932688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it an agent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755648"/>
            <a:ext cx="10543032" cy="4297680"/>
          </a:xfrm>
          <a:prstGeom prst="roundRect">
            <a:avLst>
              <a:gd name="adj" fmla="val 1702"/>
            </a:avLst>
          </a:prstGeom>
          <a:solidFill>
            <a:srgbClr val="0B0F15"/>
          </a:solidFill>
          <a:ln w="15875">
            <a:solidFill>
              <a:srgbClr val="1F2937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0120" y="1892808"/>
            <a:ext cx="10268712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5836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AGENTS · WHY N8N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078992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use n8n</a:t>
            </a:r>
            <a:endParaRPr lang="en-US" sz="3200" dirty="0"/>
          </a:p>
        </p:txBody>
      </p:sp>
      <p:sp>
        <p:nvSpPr>
          <p:cNvPr id="5" name="animList"/>
          <p:cNvSpPr/>
          <p:nvPr/>
        </p:nvSpPr>
        <p:spPr>
          <a:xfrm>
            <a:off x="822960" y="214884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no-code, visual builder with a free tier - drag boxes, connect them, done.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a browser; no servers, no licences.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rebuild everything yourself from the take-home manual.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6053328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↗  </a:t>
            </a:r>
            <a:pPr indent="0" marL="0">
              <a:buNone/>
            </a:pPr>
            <a:r>
              <a:rPr lang="en-US" sz="1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n8n.io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5836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AGENTS · WHY GEMINI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078992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Google Gemini - and a word on limits</a:t>
            </a:r>
            <a:endParaRPr lang="en-US" sz="3200" dirty="0"/>
          </a:p>
        </p:txBody>
      </p:sp>
      <p:sp>
        <p:nvSpPr>
          <p:cNvPr id="5" name="animList"/>
          <p:cNvSpPr/>
          <p:nvPr/>
        </p:nvSpPr>
        <p:spPr>
          <a:xfrm>
            <a:off x="822960" y="214884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400"/>
              </a:spcAft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API tier, strong, instant key from Google AI Studio.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400"/>
              </a:spcAft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STABLE flash model (e.g. gemini-3.6-flash) - not a "preview" one.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400"/>
              </a:spcAft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models cap at ~20 requests/day; stable at ~1,500/day. Hit a limit? Switch to another stable model - the quota is per-model.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22960" y="6053328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↗  </a:t>
            </a:r>
            <a:pPr indent="0" marL="0">
              <a:buNone/>
            </a:pPr>
            <a:r>
              <a:rPr lang="en-US" sz="1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aistudio.google.com   (Get API key)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6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5836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LIVE DEMO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170432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&amp; run Agent A (Failure Prediction)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41248" y="2057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the deck → </a:t>
            </a:r>
            <a:pPr indent="0" marL="0">
              <a:buNone/>
            </a:pPr>
            <a:r>
              <a:rPr lang="en-US" sz="1800" b="1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2743200"/>
            <a:ext cx="1051560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400"/>
              </a:spcAft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Trigger -&gt; AI Agent -&gt; Google Gemini Chat Model -&gt; paste the system prompt.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400"/>
              </a:spcAft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"vibration 3.9 mm/s for 4 shifts" -&gt; pump bearing wear, ~7 days.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400"/>
              </a:spcAft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check: ask something not in the data -&gt; it refuses, no hallucination.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22960" y="594360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↗  </a:t>
            </a:r>
            <a:pPr indent="0" marL="0">
              <a:buNone/>
            </a:pPr>
            <a:r>
              <a:rPr lang="en-US" sz="1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n8n workflows home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5836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AGENTS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078992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B - same pattern, different data</a:t>
            </a:r>
            <a:endParaRPr lang="en-US" sz="3200" dirty="0"/>
          </a:p>
        </p:txBody>
      </p:sp>
      <p:sp>
        <p:nvSpPr>
          <p:cNvPr id="5" name="animList"/>
          <p:cNvSpPr/>
          <p:nvPr/>
        </p:nvSpPr>
        <p:spPr>
          <a:xfrm>
            <a:off x="822960" y="214884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B = Spare Parts: given a failing part, returns stock + lead time + order decision.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steps to Agent A; only the reference data changes.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Take-home: participants rebuild Agent B themselves from the manual.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room:  </a:t>
            </a:r>
            <a:pPr indent="0" marL="0">
              <a:buNone/>
            </a:pPr>
            <a:r>
              <a:rPr lang="en-US" sz="1600" i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one lookup your team does by hand that an agent could do?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6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0058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&amp; 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- questions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822960" y="2788920"/>
            <a:ext cx="105156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repetitive task could an agent take the first pass at?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must a human always stay in the loop?</a:t>
            </a:r>
            <a:endParaRPr lang="en-US" sz="2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6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965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spc="8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22960" y="31546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minutes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22960" y="39776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We'll resume right on time.</a:t>
            </a:r>
            <a:endParaRPr lang="en-US" sz="17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6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49808" y="457200"/>
            <a:ext cx="54864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5000" dirty="0"/>
          </a:p>
        </p:txBody>
      </p:sp>
      <p:sp>
        <p:nvSpPr>
          <p:cNvPr id="4" name="Text 2"/>
          <p:cNvSpPr/>
          <p:nvPr/>
        </p:nvSpPr>
        <p:spPr>
          <a:xfrm>
            <a:off x="868680" y="32004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3566160"/>
            <a:ext cx="10607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&amp; Orchestration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59536" y="4617720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agents, working together</a:t>
            </a:r>
            <a:endParaRPr lang="en-US" sz="17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ORCHESTRATION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932688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as a team - A -&gt; B -&gt; C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755648"/>
            <a:ext cx="10543032" cy="4297680"/>
          </a:xfrm>
          <a:prstGeom prst="roundRect">
            <a:avLst>
              <a:gd name="adj" fmla="val 1702"/>
            </a:avLst>
          </a:prstGeom>
          <a:solidFill>
            <a:srgbClr val="0B0F15"/>
          </a:solidFill>
          <a:ln w="15875">
            <a:solidFill>
              <a:srgbClr val="1F2937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0120" y="1892808"/>
            <a:ext cx="10268712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PATTERNS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932688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agents work together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755648"/>
            <a:ext cx="10543032" cy="4297680"/>
          </a:xfrm>
          <a:prstGeom prst="roundRect">
            <a:avLst>
              <a:gd name="adj" fmla="val 1702"/>
            </a:avLst>
          </a:prstGeom>
          <a:solidFill>
            <a:srgbClr val="0B0F15"/>
          </a:solidFill>
          <a:ln w="15875">
            <a:solidFill>
              <a:srgbClr val="1F2937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0120" y="1892808"/>
            <a:ext cx="10268712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6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5836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LIVE DEMO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170432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A -&gt; B -&gt; C into one workflow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41248" y="2057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the deck → </a:t>
            </a:r>
            <a:pPr indent="0" marL="0">
              <a:buNone/>
            </a:pPr>
            <a:r>
              <a:rPr lang="en-US" sz="1800" b="1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2743200"/>
            <a:ext cx="1051560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400"/>
              </a:spcAft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the three agents onto one canvas; connect Chat -&gt; A -&gt; B -&gt; C.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400"/>
              </a:spcAft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handoff prompts so each agent's output feeds the next.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400"/>
              </a:spcAft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ONE question - "servo error 140 counts" - and watch it flow to a final URGENT request.</a:t>
            </a:r>
            <a:endParaRPr lang="en-US" sz="1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6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5836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ORCHESTRATION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078992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is powerful</a:t>
            </a:r>
            <a:endParaRPr lang="en-US" sz="3200" dirty="0"/>
          </a:p>
        </p:txBody>
      </p:sp>
      <p:sp>
        <p:nvSpPr>
          <p:cNvPr id="5" name="animList"/>
          <p:cNvSpPr/>
          <p:nvPr/>
        </p:nvSpPr>
        <p:spPr>
          <a:xfrm>
            <a:off x="822960" y="214884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800"/>
              </a:spcAft>
              <a:buNone/>
            </a:pPr>
            <a:r>
              <a:rPr lang="en-US" sz="2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agent could produce the final decision.</a:t>
            </a:r>
            <a:endParaRPr lang="en-US" sz="2100" dirty="0"/>
          </a:p>
          <a:p>
            <a:pPr indent="0" marL="0">
              <a:buNone/>
            </a:pPr>
            <a:r>
              <a:rPr lang="en-US" sz="2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800"/>
              </a:spcAft>
              <a:buNone/>
            </a:pPr>
            <a:r>
              <a:rPr lang="en-US" sz="2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escalation - 21-day part vs 6-day failure - emerges from the team, not one agent.</a:t>
            </a:r>
            <a:endParaRPr lang="en-US" sz="2100" dirty="0"/>
          </a:p>
          <a:p>
            <a:pPr indent="0" marL="0">
              <a:buNone/>
            </a:pPr>
            <a:r>
              <a:rPr lang="en-US" sz="2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800"/>
              </a:spcAft>
              <a:buNone/>
            </a:pPr>
            <a:r>
              <a:rPr lang="en-US" sz="2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"agentic AI": specialists coordinating toward a goal.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822960" y="58521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room:  </a:t>
            </a:r>
            <a:pPr indent="0" marL="0">
              <a:buNone/>
            </a:pPr>
            <a:r>
              <a:rPr lang="en-US" sz="1600" i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in your plant do several people already hand off like this?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5836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ACTION · WHY A SHEET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078992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log to a Google Sheet (not email)</a:t>
            </a:r>
            <a:endParaRPr lang="en-US" sz="3200" dirty="0"/>
          </a:p>
        </p:txBody>
      </p:sp>
      <p:sp>
        <p:nvSpPr>
          <p:cNvPr id="5" name="animList"/>
          <p:cNvSpPr/>
          <p:nvPr/>
        </p:nvSpPr>
        <p:spPr>
          <a:xfrm>
            <a:off x="822960" y="214884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sheet is a permanent record you can filter, sort and share; email is a one-off notification.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n8n node, same Google login - no extra setup.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agent taking a real action: it records, not just answers.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6053328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↗  </a:t>
            </a:r>
            <a:pPr indent="0" marL="0">
              <a:buNone/>
            </a:pPr>
            <a:r>
              <a:rPr lang="en-US" sz="1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sheets.google.com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6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5836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LIVE DEMO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170432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C writes the decision to a Google Sheet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41248" y="2057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the deck → </a:t>
            </a:r>
            <a:pPr indent="0" marL="0">
              <a:buNone/>
            </a:pPr>
            <a:r>
              <a:rPr lang="en-US" sz="1800" b="1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 + Google Sheets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2743200"/>
            <a:ext cx="1051560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400"/>
              </a:spcAft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Google Sheets "Append Row" node after Agent C.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400"/>
              </a:spcAft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 maps cleanly into columns (component, part, priority...).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400"/>
              </a:spcAft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chat -&gt; a new row appears in the sheet - the logged maintenance request.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22960" y="594360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↗  </a:t>
            </a:r>
            <a:pPr indent="0" marL="0">
              <a:buNone/>
            </a:pPr>
            <a:r>
              <a:rPr lang="en-US" sz="1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sheets.google.com</a:t>
            </a:r>
            <a:endParaRPr lang="en-US" sz="1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THE FULL PICTURE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932688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to logged decision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755648"/>
            <a:ext cx="10543032" cy="4297680"/>
          </a:xfrm>
          <a:prstGeom prst="roundRect">
            <a:avLst>
              <a:gd name="adj" fmla="val 1702"/>
            </a:avLst>
          </a:prstGeom>
          <a:solidFill>
            <a:srgbClr val="0B0F15"/>
          </a:solidFill>
          <a:ln w="15875">
            <a:solidFill>
              <a:srgbClr val="1F2937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0120" y="1892808"/>
            <a:ext cx="10268712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6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0058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&amp; 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 - questions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822960" y="2788920"/>
            <a:ext cx="105156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two departments would benefit from talking to each other?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would you want a human approval step?</a:t>
            </a:r>
            <a:endParaRPr lang="en-US" sz="2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· KEY TERMS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Glossary - the words we used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1600200"/>
            <a:ext cx="3291840" cy="4526280"/>
          </a:xfrm>
          <a:prstGeom prst="roundRect">
            <a:avLst>
              <a:gd name="adj" fmla="val 2222"/>
            </a:avLst>
          </a:prstGeom>
          <a:solidFill>
            <a:srgbClr val="11161E"/>
          </a:solidFill>
          <a:ln w="17780">
            <a:solidFill>
              <a:srgbClr val="22D3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709928"/>
            <a:ext cx="29626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AI concepts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87552" y="2112264"/>
            <a:ext cx="2962656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 (GenAI)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pattern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pattern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pattern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434840" y="1600200"/>
            <a:ext cx="3291840" cy="4526280"/>
          </a:xfrm>
          <a:prstGeom prst="roundRect">
            <a:avLst>
              <a:gd name="adj" fmla="val 2222"/>
            </a:avLst>
          </a:prstGeom>
          <a:solidFill>
            <a:srgbClr val="11161E"/>
          </a:solidFill>
          <a:ln w="17780">
            <a:solidFill>
              <a:srgbClr val="34D3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99432" y="1709928"/>
            <a:ext cx="29626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99432" y="2112264"/>
            <a:ext cx="2962656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index / store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046720" y="1600200"/>
            <a:ext cx="3291840" cy="4526280"/>
          </a:xfrm>
          <a:prstGeom prst="roundRect">
            <a:avLst>
              <a:gd name="adj" fmla="val 2222"/>
            </a:avLst>
          </a:prstGeom>
          <a:solidFill>
            <a:srgbClr val="11161E"/>
          </a:solidFill>
          <a:ln w="17780">
            <a:solidFill>
              <a:srgbClr val="A78B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11312" y="1709928"/>
            <a:ext cx="29626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Prompting &amp; output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1312" y="2112264"/>
            <a:ext cx="2962656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message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parser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check</a:t>
            </a:r>
            <a:endParaRPr lang="en-US" sz="11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· KEY TERMS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Glossary - the words we used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1600200"/>
            <a:ext cx="3291840" cy="4526280"/>
          </a:xfrm>
          <a:prstGeom prst="roundRect">
            <a:avLst>
              <a:gd name="adj" fmla="val 2222"/>
            </a:avLst>
          </a:prstGeom>
          <a:solidFill>
            <a:srgbClr val="11161E"/>
          </a:solidFill>
          <a:ln w="17780">
            <a:solidFill>
              <a:srgbClr val="F59E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709928"/>
            <a:ext cx="29626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87552" y="2112264"/>
            <a:ext cx="2962656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NotebookLM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Gemini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AI Studio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Sheets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434840" y="1600200"/>
            <a:ext cx="3291840" cy="4526280"/>
          </a:xfrm>
          <a:prstGeom prst="roundRect">
            <a:avLst>
              <a:gd name="adj" fmla="val 2222"/>
            </a:avLst>
          </a:prstGeom>
          <a:solidFill>
            <a:srgbClr val="11161E"/>
          </a:solidFill>
          <a:ln w="17780">
            <a:solidFill>
              <a:srgbClr val="22D3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99432" y="1709928"/>
            <a:ext cx="29626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Models, keys &amp; limits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99432" y="2112264"/>
            <a:ext cx="2962656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 model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model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model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 / quota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429 error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046720" y="1600200"/>
            <a:ext cx="3291840" cy="4526280"/>
          </a:xfrm>
          <a:prstGeom prst="roundRect">
            <a:avLst>
              <a:gd name="adj" fmla="val 2222"/>
            </a:avLst>
          </a:prstGeom>
          <a:solidFill>
            <a:srgbClr val="11161E"/>
          </a:solidFill>
          <a:ln w="17780">
            <a:solidFill>
              <a:srgbClr val="34D39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11312" y="1709928"/>
            <a:ext cx="29626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 building blocks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1312" y="2112264"/>
            <a:ext cx="2962656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Canvas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Trigger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Trigger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 node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Model (sub-node)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Sub-node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 Parser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 Row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Each Column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/ run</a:t>
            </a:r>
            <a:endParaRPr lang="en-US" sz="11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· KEY TERMS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Glossary - the words we used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1600200"/>
            <a:ext cx="3291840" cy="4526280"/>
          </a:xfrm>
          <a:prstGeom prst="roundRect">
            <a:avLst>
              <a:gd name="adj" fmla="val 2222"/>
            </a:avLst>
          </a:prstGeom>
          <a:solidFill>
            <a:srgbClr val="11161E"/>
          </a:solidFill>
          <a:ln w="17780">
            <a:solidFill>
              <a:srgbClr val="A78BF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709928"/>
            <a:ext cx="29626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 expressions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87552" y="2112264"/>
            <a:ext cx="2962656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Expression  {{ }}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$json.output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$('Agent A')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.first()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.item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$now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from previous / Define below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434840" y="1600200"/>
            <a:ext cx="3291840" cy="4526280"/>
          </a:xfrm>
          <a:prstGeom prst="roundRect">
            <a:avLst>
              <a:gd name="adj" fmla="val 2222"/>
            </a:avLst>
          </a:prstGeom>
          <a:solidFill>
            <a:srgbClr val="11161E"/>
          </a:solidFill>
          <a:ln w="1778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99432" y="1709928"/>
            <a:ext cx="29626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&amp; maintenance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99432" y="2112264"/>
            <a:ext cx="2962656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IM-500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molding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Bay-3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reading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(Normal/Warning/Critical)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signature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 failure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lead time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supply lead time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Index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Spare part / part number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BOM (component -&gt; part)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stock / min stock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Reorder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URGENT / NORMAL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EN-77</a:t>
            </a:r>
            <a:endParaRPr lang="en-US" sz="11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6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5836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WRAP-UP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078992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covered today</a:t>
            </a:r>
            <a:endParaRPr lang="en-US" sz="3200" dirty="0"/>
          </a:p>
        </p:txBody>
      </p:sp>
      <p:sp>
        <p:nvSpPr>
          <p:cNvPr id="5" name="animList"/>
          <p:cNvSpPr/>
          <p:nvPr/>
        </p:nvSpPr>
        <p:spPr>
          <a:xfrm>
            <a:off x="822960" y="214884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Concepts: automation vs AI vs agents vs agentic - in plain words, on one machine.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RAG: making AI answer from your own documents, with citations.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Agents: AI that reads, decides and acts - built no-code in n8n.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Orchestration: three agents working together, logging a real decision.</a:t>
            </a:r>
            <a:endParaRPr lang="en-US" sz="2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5836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WRAP-UP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078992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it home</a:t>
            </a:r>
            <a:endParaRPr lang="en-US" sz="3200" dirty="0"/>
          </a:p>
        </p:txBody>
      </p:sp>
      <p:sp>
        <p:nvSpPr>
          <p:cNvPr id="5" name="animList"/>
          <p:cNvSpPr/>
          <p:nvPr/>
        </p:nvSpPr>
        <p:spPr>
          <a:xfrm>
            <a:off x="822960" y="214884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get: the how-to manual, the agent prompts, a glossary, the sheet template, and this deck.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 it yourself - then swap in your own machine and data.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one small, real problem on your line to try first.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6053328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↗  </a:t>
            </a:r>
            <a:pPr indent="0" marL="0">
              <a:buNone/>
            </a:pPr>
            <a:r>
              <a:rPr lang="en-US" sz="1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notebooklm.google.com   ·   n8n.io   ·   aistudio.google.com   ·   sheets.google.com</a:t>
            </a:r>
            <a:endParaRPr lang="en-US" sz="14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6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210312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822960" y="32918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any time - in Hindi or English.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261104" y="4114800"/>
            <a:ext cx="3657600" cy="868680"/>
          </a:xfrm>
          <a:prstGeom prst="roundRect">
            <a:avLst>
              <a:gd name="adj" fmla="val 9474"/>
            </a:avLst>
          </a:prstGeom>
          <a:solidFill>
            <a:srgbClr val="11161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389120" y="4133088"/>
            <a:ext cx="640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◉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010912" y="426110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010912" y="451713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arjunthakur.dev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Arjun Thakur</dc:creator>
  <cp:lastModifiedBy>Arjun Thakur</cp:lastModifiedBy>
  <cp:revision>1</cp:revision>
  <dcterms:created xsi:type="dcterms:W3CDTF">2026-08-21T00:30:35Z</dcterms:created>
  <dcterms:modified xsi:type="dcterms:W3CDTF">2026-08-21T00:30:35Z</dcterms:modified>
</cp:coreProperties>
</file>