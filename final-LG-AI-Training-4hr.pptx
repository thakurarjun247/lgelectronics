
<file path=[Content_Types].xml><?xml version="1.0" encoding="utf-8"?>
<Types xmlns="http://schemas.openxmlformats.org/package/2006/content-types">
  <Override PartName="/ppt/slides/slide29.xml" ContentType="application/vnd.openxmlformats-officedocument.presentationml.slide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notesSlides/notesSlide29.xml" ContentType="application/vnd.openxmlformats-officedocument.presentationml.notesSlide+xml"/>
  <Override PartName="/ppt/notesSlides/notesSlide38.xml" ContentType="application/vnd.openxmlformats-officedocument.presentationml.notesSlid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theme/theme1.xml" ContentType="application/vnd.openxmlformats-officedocument.theme+xml"/>
  <Override PartName="/ppt/notesSlides/notesSlide18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6.xml" ContentType="application/vnd.openxmlformats-officedocument.presentationml.notesSlide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3.xml" ContentType="application/vnd.openxmlformats-officedocument.presentationml.notes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notesSlides/notesSlide1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notesSlides/notesSlide19.xml" ContentType="application/vnd.openxmlformats-officedocument.presentationml.notesSlide+xml"/>
  <Override PartName="/ppt/notesSlides/notesSlide39.xml" ContentType="application/vnd.openxmlformats-officedocument.presentationml.notes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notesSlides/notesSlide1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4.xml" ContentType="application/vnd.openxmlformats-officedocument.presentationml.notesSlide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6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94" r:id="rId9"/>
    <p:sldId id="295" r:id="rId10"/>
    <p:sldId id="296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7" r:id="rId43"/>
    <p:sldId id="298" r:id="rId44"/>
    <p:sldId id="299" r:id="rId4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-440" y="-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Plain language, live demos, one running example - the IM-500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Ice-breaker. Read the room: mostly non-coders? go slower on tech, heavier on the 'why'. Keep it warm.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tone: interactive, bilingual, judgement-free. The goal is understanding, not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Spine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machine itself. Point at each part so the room has a physical picture before we talk sensors.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the room in the machine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slide - full definitions are in the glossary handout. Don't read it out; point people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slide - full definitions are in the glossary handout. Don't read it out; point people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slide - full definitions are in the glossary handout. Don't read it out; point people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levels, one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Plain-word definitions of each term before the comparison table. Keep it quick - the next slide contrasts them side by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~37 min mark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only from your docs, with citations.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"not in sources" before; full cited answer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all three 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~92 min mark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brain (LLM) + your data +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one agent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~144 min mark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decision no single agent makes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build Sequential - simplest and most 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Centrepiece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doesn't just answer, it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41248" y="8229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TRAINING · LG ELECTRONICS, NOIDA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" y="141732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AI for the </a:t>
            </a:r>
            <a:r>
              <a:rPr lang="en-US" sz="4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Floor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59536" y="29260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hands-on, 4-hour session - concepts, RAG, agents and orchestration, all no-code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4023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</a:t>
            </a:r>
            <a:r>
              <a:rPr lang="en-US" sz="2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 Thakur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59536" y="45720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AI Engineer  ·  AI Trainer  ·  Agentic AI Developer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- A FEW HANDS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2412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start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ChatGPT, Gemini or any AI chat - even once in a while?</a:t>
            </a:r>
            <a:endParaRPr lang="en-US" sz="2100" dirty="0"/>
          </a:p>
          <a:p>
            <a:pPr marL="0" indent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has ever written code or built an automation? (Excel formulas count!)</a:t>
            </a:r>
            <a:endParaRPr lang="en-US" sz="2100" dirty="0"/>
          </a:p>
          <a:p>
            <a:pPr marL="0" indent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has heard "AI agent" and wasn't quite sure what it means?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wrong answers - this just helps me pitch the session at the right level for the room.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IN 4 HOURS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2412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1700784" cy="1188720"/>
          </a:xfrm>
          <a:prstGeom prst="roundRect">
            <a:avLst>
              <a:gd name="adj" fmla="val 6154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5603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96112" y="31821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words, plainly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87752" y="3063240"/>
            <a:ext cx="374904" cy="0"/>
          </a:xfrm>
          <a:prstGeom prst="line">
            <a:avLst/>
          </a:prstGeom>
          <a:noFill/>
          <a:ln w="34925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026664" y="2468880"/>
            <a:ext cx="1700784" cy="1188720"/>
          </a:xfrm>
          <a:prstGeom prst="roundRect">
            <a:avLst>
              <a:gd name="adj" fmla="val 6154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99816" y="25603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099816" y="31821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+ your docs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91456" y="3063240"/>
            <a:ext cx="374904" cy="0"/>
          </a:xfrm>
          <a:prstGeom prst="line">
            <a:avLst/>
          </a:prstGeom>
          <a:noFill/>
          <a:ln w="34925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230368" y="2468880"/>
            <a:ext cx="1700784" cy="1188720"/>
          </a:xfrm>
          <a:prstGeom prst="roundRect">
            <a:avLst>
              <a:gd name="adj" fmla="val 6154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25603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03520" y="31821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acts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95160" y="3063240"/>
            <a:ext cx="374904" cy="0"/>
          </a:xfrm>
          <a:prstGeom prst="line">
            <a:avLst/>
          </a:prstGeom>
          <a:noFill/>
          <a:ln w="34925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34072" y="2468880"/>
            <a:ext cx="1700784" cy="1188720"/>
          </a:xfrm>
          <a:prstGeom prst="roundRect">
            <a:avLst>
              <a:gd name="adj" fmla="val 6154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07224" y="25603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507224" y="31821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together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98864" y="3063240"/>
            <a:ext cx="374904" cy="0"/>
          </a:xfrm>
          <a:prstGeom prst="line">
            <a:avLst/>
          </a:prstGeom>
          <a:noFill/>
          <a:ln w="34925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637776" y="2468880"/>
            <a:ext cx="1700784" cy="1188720"/>
          </a:xfrm>
          <a:prstGeom prst="roundRect">
            <a:avLst>
              <a:gd name="adj" fmla="val 6154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10928" y="25603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710928" y="31821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Sheet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425196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example, grown all day - predictive maintenance on an IM-500 machine.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build live; you watch and ask. Short breaks along the way.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manual, prompts and a glossary to redo it yourself, free.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WE'LL WORK TODAY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2412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house rules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moment you have a question - don't wait for me to finish. The best time is right away.</a:t>
            </a:r>
            <a:endParaRPr lang="en-US" sz="1900" dirty="0"/>
          </a:p>
          <a:p>
            <a:pPr marL="0" indent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 on a word or a term? Ask me to define it, anytime. No question is too basic.</a:t>
            </a:r>
            <a:endParaRPr lang="en-US" sz="1900" dirty="0"/>
          </a:p>
          <a:p>
            <a:pPr marL="0" indent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is no barrier - Hindi or English, whatever's comfortable. Hinglish is perfectly fine.</a:t>
            </a:r>
            <a:endParaRPr lang="en-US" sz="1900" dirty="0"/>
          </a:p>
          <a:p>
            <a:pPr marL="0" indent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no-code and free. I build live; you get the manual to redo it yourself.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example, grown all day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" y="548640"/>
            <a:ext cx="1118311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THE MACHINE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IM-500 - what we'll work 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· KEY TERMS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- the words we used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3291840" cy="4526280"/>
          </a:xfrm>
          <a:prstGeom prst="roundRect">
            <a:avLst>
              <a:gd name="adj" fmla="val 2222"/>
            </a:avLst>
          </a:prstGeom>
          <a:solidFill>
            <a:srgbClr val="11161E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709928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AI concepts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7552" y="2112264"/>
            <a:ext cx="2962656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(GenAI)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pattern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pattern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pattern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1600200"/>
            <a:ext cx="3291840" cy="4526280"/>
          </a:xfrm>
          <a:prstGeom prst="roundRect">
            <a:avLst>
              <a:gd name="adj" fmla="val 2222"/>
            </a:avLst>
          </a:prstGeom>
          <a:solidFill>
            <a:srgbClr val="11161E"/>
          </a:solidFill>
          <a:ln w="17780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709928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9432" y="2112264"/>
            <a:ext cx="2962656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index / store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600200"/>
            <a:ext cx="3291840" cy="4526280"/>
          </a:xfrm>
          <a:prstGeom prst="roundRect">
            <a:avLst>
              <a:gd name="adj" fmla="val 2222"/>
            </a:avLst>
          </a:prstGeom>
          <a:solidFill>
            <a:srgbClr val="11161E"/>
          </a:solidFill>
          <a:ln w="1778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1312" y="1709928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&amp; output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1312" y="2112264"/>
            <a:ext cx="2962656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message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parser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check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· KEY TERMS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- the words we used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3291840" cy="4526280"/>
          </a:xfrm>
          <a:prstGeom prst="roundRect">
            <a:avLst>
              <a:gd name="adj" fmla="val 2222"/>
            </a:avLst>
          </a:prstGeom>
          <a:solidFill>
            <a:srgbClr val="11161E"/>
          </a:solidFill>
          <a:ln w="1778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709928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7552" y="2112264"/>
            <a:ext cx="2962656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Studio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Sheets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1600200"/>
            <a:ext cx="3291840" cy="4526280"/>
          </a:xfrm>
          <a:prstGeom prst="roundRect">
            <a:avLst>
              <a:gd name="adj" fmla="val 2222"/>
            </a:avLst>
          </a:prstGeom>
          <a:solidFill>
            <a:srgbClr val="11161E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709928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keys &amp; limits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9432" y="2112264"/>
            <a:ext cx="2962656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model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model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model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 / quota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 error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600200"/>
            <a:ext cx="3291840" cy="4526280"/>
          </a:xfrm>
          <a:prstGeom prst="roundRect">
            <a:avLst>
              <a:gd name="adj" fmla="val 2222"/>
            </a:avLst>
          </a:prstGeom>
          <a:solidFill>
            <a:srgbClr val="11161E"/>
          </a:solidFill>
          <a:ln w="17780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1312" y="1709928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building blocks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1312" y="2112264"/>
            <a:ext cx="2962656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Trigger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Trigger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node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Model (sub-node)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Sub-node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Parser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 Row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Each Column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/ run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· KEY TERMS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- the words we used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3291840" cy="4526280"/>
          </a:xfrm>
          <a:prstGeom prst="roundRect">
            <a:avLst>
              <a:gd name="adj" fmla="val 2222"/>
            </a:avLst>
          </a:prstGeom>
          <a:solidFill>
            <a:srgbClr val="11161E"/>
          </a:solidFill>
          <a:ln w="17780">
            <a:solidFill>
              <a:srgbClr val="A78BF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709928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expressions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7552" y="2112264"/>
            <a:ext cx="2962656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  {{ }}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$json.output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$('Agent A')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.first()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.item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$now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from previous / Define below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1600200"/>
            <a:ext cx="3291840" cy="4526280"/>
          </a:xfrm>
          <a:prstGeom prst="roundRect">
            <a:avLst>
              <a:gd name="adj" fmla="val 2222"/>
            </a:avLst>
          </a:prstGeom>
          <a:solidFill>
            <a:srgbClr val="11161E"/>
          </a:solidFill>
          <a:ln w="1778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709928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&amp; maintenance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9432" y="2112264"/>
            <a:ext cx="2962656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IM-500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molding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Bay-3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reading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(Normal/Warning/Critical)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signature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failure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lead time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supply lead time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Index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Spare part / part number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(component -&gt; part)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stock / min stock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/ NORMAL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EN-77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868680" y="3200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59536" y="461772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words everyone mixes up - on the IM-500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CONCEPTS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vs GenAI vs AI Agent vs Agentic AI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CONCEPTS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50976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terms, defined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198424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24128" y="2404872"/>
            <a:ext cx="4626864" cy="1307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that follows rules or spots patterns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language, no reasoning - just "if this, then that"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flag the part if vibration &gt; 4.5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87452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11161E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0528" y="198424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10528" y="2404872"/>
            <a:ext cx="4626864" cy="1307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new content - text, summaries, images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and writes language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know YOUR data unless you give it (that's RAG)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16052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11161E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427024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4690872"/>
            <a:ext cx="4626864" cy="1307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that can decide and take an action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your reference data (and tools) to finish a task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reads a sensor alarm -&gt; names the failing part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09360" y="416052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11161E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0528" y="427024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10528" y="4690872"/>
            <a:ext cx="4626864" cy="1307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agents working together toward a goal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hand off, coordinate, span many steps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predict -&gt; check parts -&gt; raise maintenance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CONCEPTS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50976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terms, side by side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822960" y="1828800"/>
          <a:ext cx="10515600" cy="3429000"/>
        </p:xfrm>
        <a:graphic>
          <a:graphicData uri="http://schemas.openxmlformats.org/drawingml/2006/table">
            <a:tbl>
              <a:tblPr/>
              <a:tblGrid>
                <a:gridCol w="2011680"/>
                <a:gridCol w="2834640"/>
                <a:gridCol w="1828800"/>
                <a:gridCol w="3840480"/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Decides?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IM-500 example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&amp; patterns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AAB4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9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if vibration &gt; 4.5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Generative 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Creates language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AAB4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9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Writes a shift summary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Agent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+ data + decision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AAB4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one task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9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Servo error -&gt; EN-77, ~6d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team, many steps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AAB4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end to 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9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 -&gt; parts -&gt; maintenance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room:  </a:t>
            </a:r>
            <a:r>
              <a:rPr lang="en-US" sz="1600" i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these are you already using without calling it "AI"?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- questions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your tasks today is really just automation?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would a decision (an agent) actually help?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kern="0" spc="8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minutes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resume right on time.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868680" y="3200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59536" y="461772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AI answer from YOUR machine documents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RAG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a plain chatbot doesn't know your machine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raw AI model is smart, but it has never seen the IM-500 manuals.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it about servo error EN-77 and it guesses - a confident wrong answer.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floor, a confident wrong answer can be worse than no answer.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RAG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RAG is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RAG · WHY NOTEBOOKLM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use NotebookLM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No-code, free, Google-stable - upload PDFs and ask; no database to manage.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"just works" tool for grounded answers in a live demo.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first: fewer moving parts, nothing to break on the day.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notebooklm.google.com    ·    plain chatbot: gemini.google.com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RAG ·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 After RAG - the EN-77 question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6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LIVE DEMO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 After RAG, live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41248" y="2057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deck → </a:t>
            </a:r>
            <a:r>
              <a:rPr lang="en-US" sz="180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15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EN-77 question in plain Gemini (no docs) -&gt; vague guess.</a:t>
            </a:r>
            <a:endParaRPr lang="en-US" sz="1900" dirty="0"/>
          </a:p>
          <a:p>
            <a:pPr marL="0" indent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IM-500 manuals + spare-parts catalog -&gt; ask again -&gt; "not in sources" for the addendum item.</a:t>
            </a:r>
            <a:endParaRPr lang="en-US" sz="1900" dirty="0"/>
          </a:p>
          <a:p>
            <a:pPr marL="0" indent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EN-77 addendum PDF -&gt; ask again -&gt; exact part, 0 stock, 21-day lead, cited.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6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- questions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documents would you point this at first?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shape is that data in today - PDFs, scans, spreadsheets?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6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kern="0" spc="8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resume right on time.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868680" y="3200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Agent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59536" y="461772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reads, decides and takes action - no code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AGENTS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an agent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AGENTS · WHY N8N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use n8n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no-code, visual builder with a free tier - drag boxes, connect them, done.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a browser; no servers, no licences.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rebuild everything yourself from the take-home manual.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n8n.io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AGENTS · WHY GEMINI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Google Gemini - and a word on limits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API tier, strong, instant key from Google AI Studio.</a:t>
            </a:r>
            <a:endParaRPr lang="en-US" sz="1900" dirty="0"/>
          </a:p>
          <a:p>
            <a:pPr marL="0" indent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STABLE flash model (e.g. gemini-3.6-flash) - not a "preview" one.</a:t>
            </a:r>
            <a:endParaRPr lang="en-US" sz="1900" dirty="0"/>
          </a:p>
          <a:p>
            <a:pPr marL="0" indent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models cap at ~20 requests/day; stable at ~1,500/day. Hit a limit? Switch to another stable model - the quota is per-model.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aistudio.google.com   (Get API key)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6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LIVE DEMO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run Agent A (Failure Prediction)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41248" y="2057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deck → </a:t>
            </a:r>
            <a:r>
              <a:rPr lang="en-US" sz="180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15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Trigger -&gt; AI Agent -&gt; Google Gemini Chat Model -&gt; paste the system prompt.</a:t>
            </a:r>
            <a:endParaRPr lang="en-US" sz="1900" dirty="0"/>
          </a:p>
          <a:p>
            <a:pPr marL="0" indent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"vibration 3.9 mm/s for 4 shifts" -&gt; pump bearing wear, ~7 days.</a:t>
            </a:r>
            <a:endParaRPr lang="en-US" sz="1900" dirty="0"/>
          </a:p>
          <a:p>
            <a:pPr marL="0" indent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check: ask something not in the data -&gt; it refuses, no hallucination.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n8n workflows home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AGENTS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B - same pattern, different data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B = Spare Parts: given a failing part, returns stock + lead time + order decision.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steps to Agent A; only the reference data changes.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Take-home: participants rebuild Agent B themselves from the manual.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room:  </a:t>
            </a:r>
            <a:r>
              <a:rPr lang="en-US" sz="1600" i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one lookup your team does by hand that an agent could do?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6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- questions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repetitive task could an agent take the first pass at?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must a human always stay in the loop?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6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kern="0" spc="8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minutes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resume right on time.</a:t>
            </a:r>
            <a:endParaRPr lang="en-US" sz="1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6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868680" y="3200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&amp; Orchestration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59536" y="461772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agents, working together</a:t>
            </a:r>
            <a:endParaRPr lang="en-US" sz="1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ORCHESTRATION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a team - A -&gt; B -&gt; C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PATTERNS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agents work together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6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LIVE DEMO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A -&gt; B -&gt; C into one workflow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41248" y="2057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deck → </a:t>
            </a:r>
            <a:r>
              <a:rPr lang="en-US" sz="180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15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three agents onto one canvas; connect Chat -&gt; A -&gt; B -&gt; C.</a:t>
            </a:r>
            <a:endParaRPr lang="en-US" sz="1900" dirty="0"/>
          </a:p>
          <a:p>
            <a:pPr marL="0" indent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handoff prompts so each agent's output feeds the next.</a:t>
            </a:r>
            <a:endParaRPr lang="en-US" sz="1900" dirty="0"/>
          </a:p>
          <a:p>
            <a:pPr marL="0" indent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ONE question - "servo error 140 counts" - and watch it flow to a final URGENT request.</a:t>
            </a:r>
            <a:endParaRPr lang="en-US" sz="1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6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ORCHESTRATION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powerful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agent could produce the final decision.</a:t>
            </a:r>
            <a:endParaRPr lang="en-US" sz="2100" dirty="0"/>
          </a:p>
          <a:p>
            <a:pPr marL="0" indent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escalation - 21-day part vs 6-day failure - emerges from the team, not one agent.</a:t>
            </a:r>
            <a:endParaRPr lang="en-US" sz="2100" dirty="0"/>
          </a:p>
          <a:p>
            <a:pPr marL="0" indent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"agentic AI": specialists coordinating toward a goal.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room:  </a:t>
            </a:r>
            <a:r>
              <a:rPr lang="en-US" sz="1600" i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 your plant do several people already hand off like this?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ACTION · WHY A SHEET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log to a Google Sheet (not email)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sheet is a permanent record you can filter, sort and share; email is a one-off notification.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n8n node, same Google login - no extra setup.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agent taking a real action: it records, not just answers.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sheets.google.com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6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LIVE DEMO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 writes the decision to a Google Sheet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41248" y="2057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deck → </a:t>
            </a:r>
            <a:r>
              <a:rPr lang="en-US" sz="180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+ Google Sheets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15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Google Sheets "Append Row" node after Agent C.</a:t>
            </a:r>
            <a:endParaRPr lang="en-US" sz="1900" dirty="0"/>
          </a:p>
          <a:p>
            <a:pPr marL="0" indent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maps cleanly into columns (component, part, priority...).</a:t>
            </a:r>
            <a:endParaRPr lang="en-US" sz="1900" dirty="0"/>
          </a:p>
          <a:p>
            <a:pPr marL="0" indent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chat -&gt; a new row appears in the sheet - the logged maintenance request.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sheets.google.com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THE FULL PICTURE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to logged decision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6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- questions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two departments would benefit from talking to each other?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would you want a human approval step?</a:t>
            </a:r>
            <a:endParaRPr lang="en-US" sz="2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6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covered today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Concepts: automation vs AI vs agents vs agentic - in plain words, on one machine.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RAG: making AI answer from your own documents, with citations.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Agents: AI that reads, decides and acts - built no-code in n8n.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Orchestration: three agents working together, logging a real decision.</a:t>
            </a:r>
            <a:endParaRPr lang="en-US" sz="2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0F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it home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get: the how-to manual, the agent prompts, a glossary, the sheet template, and this deck.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it yourself - then swap in your own machine and data.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small, real problem on your line to try first.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notebooklm.google.com   ·   n8n.io   ·   aistudio.google.com   ·   sheets.google.com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6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any time - in Hindi or English.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261104" y="4114800"/>
            <a:ext cx="3657600" cy="868680"/>
          </a:xfrm>
          <a:prstGeom prst="roundRect">
            <a:avLst>
              <a:gd name="adj" fmla="val 9474"/>
            </a:avLst>
          </a:prstGeom>
          <a:solidFill>
            <a:srgbClr val="11161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0" y="4133088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010912" y="4261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10912" y="45171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2304</Words>
  <Application>Microsoft Office PowerPoint</Application>
  <PresentationFormat>Custom</PresentationFormat>
  <Paragraphs>422</Paragraphs>
  <Slides>44</Slides>
  <Notes>44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5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arjunthakur.dev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Arjun Thakur</dc:creator>
  <cp:lastModifiedBy>thaku</cp:lastModifiedBy>
  <cp:revision>2</cp:revision>
  <dcterms:created xsi:type="dcterms:W3CDTF">2026-08-21T00:30:35Z</dcterms:created>
  <dcterms:modified xsi:type="dcterms:W3CDTF">2026-08-21T00:34:27Z</dcterms:modified>
</cp:coreProperties>
</file>